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4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3335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809750"/>
            <a:ext cx="666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Nuwan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667000"/>
            <a:ext cx="7429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Lead/Staff Product Designer with a mixed in-house</a:t>
            </a:r>
          </a:p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and agency background. I build with AI, not just</a:t>
            </a:r>
          </a:p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design for it. A decade working on problems where</a:t>
            </a:r>
          </a:p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design has to do more than look good.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762500"/>
            <a:ext cx="7429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B5B0"/>
                </a:solidFill>
                <a:latin typeface="Manrope"/>
              </a:rPr>
              <a:t>Host of </a:t>
            </a:r>
            <a:r>
              <a:rPr sz="2400" b="1">
                <a:solidFill>
                  <a:srgbClr val="F0EDE8"/>
                </a:solidFill>
                <a:latin typeface="Manrope"/>
              </a:rPr>
              <a:t>Designing Up</a:t>
            </a:r>
            <a:r>
              <a:rPr sz="2400" b="0">
                <a:solidFill>
                  <a:srgbClr val="B8B5B0"/>
                </a:solidFill>
                <a:latin typeface="Manrope"/>
              </a:rPr>
              <a:t>, a podcast on design leadership and AI in product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500" y="552450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5562600"/>
            <a:ext cx="1028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480"/>
                </a:solidFill>
                <a:latin typeface="Manrope"/>
              </a:defRPr>
            </a:pPr>
            <a:r>
              <a:t>B2B SaaS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6950" y="5524500"/>
            <a:ext cx="1952625" cy="361950"/>
          </a:xfrm>
          <a:prstGeom prst="roundRect">
            <a:avLst>
              <a:gd name="adj" fmla="val 50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2200" y="5562600"/>
            <a:ext cx="1762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480"/>
                </a:solidFill>
                <a:latin typeface="Manrope"/>
              </a:defRPr>
            </a:pPr>
            <a:r>
              <a:t>AI-native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4825" y="5524500"/>
            <a:ext cx="1847850" cy="361950"/>
          </a:xfrm>
          <a:prstGeom prst="roundRect">
            <a:avLst>
              <a:gd name="adj" fmla="val 50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075" y="5562600"/>
            <a:ext cx="1657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480"/>
                </a:solidFill>
                <a:latin typeface="Manrope"/>
              </a:defRPr>
            </a:pPr>
            <a:r>
              <a:t>Design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7925" y="5524500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3175" y="5562600"/>
            <a:ext cx="1238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480"/>
                </a:solidFill>
                <a:latin typeface="Manrope"/>
              </a:defRPr>
            </a:pPr>
            <a:r>
              <a:t>0→1 builds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1925" y="5524500"/>
            <a:ext cx="2162175" cy="361950"/>
          </a:xfrm>
          <a:prstGeom prst="roundRect">
            <a:avLst>
              <a:gd name="adj" fmla="val 50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7175" y="5562600"/>
            <a:ext cx="19716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480"/>
                </a:solidFill>
                <a:latin typeface="Manrope"/>
              </a:defRPr>
            </a:pPr>
            <a:r>
              <a:t>Platform products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5000" y="1333500"/>
            <a:ext cx="8191500" cy="13335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0750" y="1476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CURRENTLY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0" y="1762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Manrope"/>
              </a:defRPr>
            </a:pPr>
            <a:r>
              <a:t>Lead / Staff Product Designer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0" y="2143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Berlin, Germany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5000" y="2857500"/>
            <a:ext cx="8191500" cy="17145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0750" y="3000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BACKGROUND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0" y="3286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In-house + Agency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0" y="361950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B2B SaaS + AI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0" y="395287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Designing Up podcast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5000" y="4762500"/>
            <a:ext cx="8191500" cy="13335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0750" y="4905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OUTSIDE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0" y="5191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I run half marathons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0" y="552450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Addicted to Hyrox races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8A7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8572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How I operate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2476500"/>
            <a:ext cx="4953000" cy="9525"/>
          </a:xfrm>
          <a:prstGeom prst="rect">
            <a:avLst/>
          </a:prstGeom>
          <a:solidFill>
            <a:srgbClr val="2C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27432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600" b="1">
                <a:solidFill>
                  <a:srgbClr val="F0EDE8"/>
                </a:solidFill>
                <a:latin typeface="Manrope"/>
              </a:defRPr>
            </a:pPr>
            <a:r>
              <a:t>Set direction under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524250"/>
            <a:ext cx="495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000" b="0">
                <a:solidFill>
                  <a:srgbClr val="B8B5B0"/>
                </a:solidFill>
                <a:latin typeface="Manrope"/>
              </a:defRPr>
            </a:pPr>
            <a:r>
              <a:t>Defined clear principles and decision criteria to move teams forward before solutions were locked 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0" y="2476500"/>
            <a:ext cx="4953000" cy="9525"/>
          </a:xfrm>
          <a:prstGeom prst="rect">
            <a:avLst/>
          </a:prstGeom>
          <a:solidFill>
            <a:srgbClr val="2C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0" y="27432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600" b="1">
                <a:solidFill>
                  <a:srgbClr val="F0EDE8"/>
                </a:solidFill>
                <a:latin typeface="Manrope"/>
              </a:defRPr>
            </a:pPr>
            <a:r>
              <a:t>Positioned design as a product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524250"/>
            <a:ext cx="495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000" b="0">
                <a:solidFill>
                  <a:srgbClr val="B8B5B0"/>
                </a:solidFill>
                <a:latin typeface="Manrope"/>
              </a:defRPr>
            </a:pPr>
            <a:r>
              <a:t>Bridging executives, engineers and ICs around customer-centred decisions. A strategic voice, not a service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2476500"/>
            <a:ext cx="4953000" cy="9525"/>
          </a:xfrm>
          <a:prstGeom prst="rect">
            <a:avLst/>
          </a:prstGeom>
          <a:solidFill>
            <a:srgbClr val="2C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01500" y="27432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600" b="1">
                <a:solidFill>
                  <a:srgbClr val="F0EDE8"/>
                </a:solidFill>
                <a:latin typeface="Manrope"/>
              </a:defRPr>
            </a:pPr>
            <a:r>
              <a:t>Scaled impact through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0" y="3524250"/>
            <a:ext cx="495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000" b="0">
                <a:solidFill>
                  <a:srgbClr val="B8B5B0"/>
                </a:solidFill>
                <a:latin typeface="Manrope"/>
              </a:defRPr>
            </a:pPr>
            <a:r>
              <a:t>Established career frameworks and growth plans enabling clearer expectations, stronger ownership and team growth.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5715000"/>
            <a:ext cx="857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480"/>
                </a:solidFill>
                <a:latin typeface="Manrope"/>
              </a:defRPr>
            </a:pPr>
            <a:r>
              <a:t>Led the Product Design function at Spryker under the CPO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4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714500"/>
            <a:ext cx="28575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22226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667000"/>
            <a:ext cx="2857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55250"/>
                </a:solidFill>
                <a:latin typeface="Manrope"/>
              </a:defRPr>
            </a:pPr>
            <a:r>
              <a:t>SPRYKER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43250"/>
            <a:ext cx="7429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00"/>
              </a:lnSpc>
              <a:defRPr sz="7200" b="1">
                <a:solidFill>
                  <a:srgbClr val="F0EDE8"/>
                </a:solidFill>
                <a:latin typeface="Manrope"/>
              </a:defRPr>
            </a:pPr>
            <a:r>
              <a:t>De-risking a €2M</a:t>
            </a:r>
          </a:p>
          <a:p>
            <a:pPr algn="l">
              <a:lnSpc>
                <a:spcPts val="7600"/>
              </a:lnSpc>
              <a:defRPr sz="7200" b="1">
                <a:solidFill>
                  <a:srgbClr val="F0EDE8"/>
                </a:solidFill>
                <a:latin typeface="Manrope"/>
              </a:defRPr>
            </a:pPr>
            <a:r>
              <a:t>platform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857750"/>
            <a:ext cx="7048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The company was under pressure to invest in a Digital</a:t>
            </a:r>
          </a:p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Sales Room, driven by analyst hype, internal revenue</a:t>
            </a:r>
          </a:p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narratives, and interest from a marquee enterprise</a:t>
            </a:r>
          </a:p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customer — before there was evidence customers</a:t>
            </a:r>
          </a:p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were ready to adopt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15500" y="1143000"/>
            <a:ext cx="8001000" cy="8001000"/>
          </a:xfrm>
          <a:prstGeom prst="roundRect">
            <a:avLst>
              <a:gd name="adj" fmla="val 6000"/>
            </a:avLst>
          </a:prstGeom>
          <a:solidFill>
            <a:srgbClr val="1E1E24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15500" y="1143000"/>
            <a:ext cx="8001000" cy="495300"/>
          </a:xfrm>
          <a:prstGeom prst="roundRect">
            <a:avLst>
              <a:gd name="adj" fmla="val 3000"/>
            </a:avLst>
          </a:prstGeom>
          <a:solidFill>
            <a:srgbClr val="28282F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25050" y="1333500"/>
            <a:ext cx="114300" cy="1143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15550" y="1333500"/>
            <a:ext cx="114300" cy="1143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06050" y="13335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10750" y="1733550"/>
            <a:ext cx="7810500" cy="733425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73000" y="5210175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Product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4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My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WHAT I OWNED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24000"/>
            <a:ext cx="666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My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7432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27241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Led end-to-end UX for the buyer-facing Digital Sales Room (DSR)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3147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3909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3718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Sole designer — responsible for research, concepts, prototyping, stakeholder alignment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39624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40386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40195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Reported to CPO. Full design autonomy from first sketch to recommendation.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5000" y="1333500"/>
            <a:ext cx="8191500" cy="15240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0750" y="1476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MY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0" y="1762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Manrope"/>
              </a:defRPr>
            </a:pPr>
            <a:r>
              <a:t>Nuwan (Lead Designer)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0" y="209550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Solo practitioner on this workstream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5000" y="3048000"/>
            <a:ext cx="8191500" cy="19050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750" y="31908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0" y="34766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CPO (direct report)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0" y="381000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Product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0" y="414337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Engineering leads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0" y="447675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Sales leadership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5000" y="5143500"/>
            <a:ext cx="8191500" cy="11430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0750" y="5286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CONSTRAINT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0750" y="5572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De-risk without killing momentum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C4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The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3335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ACT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714500"/>
            <a:ext cx="8572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The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500" y="2762250"/>
            <a:ext cx="4000500" cy="180975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400" y="3028950"/>
            <a:ext cx="95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314700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DE8"/>
                </a:solidFill>
                <a:latin typeface="Manrope"/>
              </a:defRPr>
            </a:pPr>
            <a:r>
              <a:t>Investor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714750"/>
            <a:ext cx="3429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  <a:defRPr sz="1800" b="0">
                <a:solidFill>
                  <a:srgbClr val="B8B5B0"/>
                </a:solidFill>
                <a:latin typeface="Manrope"/>
              </a:defRPr>
            </a:pPr>
            <a:r>
              <a:t>New R&amp;D investment needed. The market expected a move.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3500" y="2762250"/>
            <a:ext cx="4000500" cy="180975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3028950"/>
            <a:ext cx="95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14700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DE8"/>
                </a:solidFill>
                <a:latin typeface="Manrope"/>
              </a:defRPr>
            </a:pPr>
            <a:r>
              <a:t>Analyst hype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714750"/>
            <a:ext cx="3429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  <a:defRPr sz="1800" b="0">
                <a:solidFill>
                  <a:srgbClr val="B8B5B0"/>
                </a:solidFill>
                <a:latin typeface="Manrope"/>
              </a:defRPr>
            </a:pPr>
            <a:r>
              <a:t>Every B2B analyst was writing about digital sales rooms. FOMO was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500" y="4762500"/>
            <a:ext cx="4000500" cy="180975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5400" y="5029200"/>
            <a:ext cx="95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5314950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DE8"/>
                </a:solidFill>
                <a:latin typeface="Manrope"/>
              </a:defRPr>
            </a:pPr>
            <a:r>
              <a:t>Sales enthusiasm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5715000"/>
            <a:ext cx="3429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  <a:defRPr sz="1800" b="0">
                <a:solidFill>
                  <a:srgbClr val="B8B5B0"/>
                </a:solidFill>
                <a:latin typeface="Manrope"/>
              </a:defRPr>
            </a:pPr>
            <a:r>
              <a:t>Sales teams were pushing hard. They believed this was the edge they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4762500"/>
            <a:ext cx="4000500" cy="180975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5029200"/>
            <a:ext cx="95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314950"/>
            <a:ext cx="342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DE8"/>
                </a:solidFill>
                <a:latin typeface="Manrope"/>
              </a:defRPr>
            </a:pPr>
            <a:r>
              <a:t>Lighthouse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715000"/>
            <a:ext cx="3429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  <a:defRPr sz="1800" b="0">
                <a:solidFill>
                  <a:srgbClr val="B8B5B0"/>
                </a:solidFill>
                <a:latin typeface="Manrope"/>
              </a:defRPr>
            </a:pPr>
            <a:r>
              <a:t>Our best customers were interested. Some were aggressively asking us to build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500" y="7048500"/>
            <a:ext cx="8191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7219950"/>
            <a:ext cx="819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00"/>
              </a:lnSpc>
              <a:defRPr sz="2200" b="0">
                <a:solidFill>
                  <a:srgbClr val="888480"/>
                </a:solidFill>
                <a:latin typeface="Manrope"/>
              </a:defRPr>
            </a:pPr>
            <a:r>
              <a:t>Everyone had a reason to build. No one had a reason to pause. That was the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C4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Starting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WHAT WE ASSUMED GOING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17145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1809750"/>
            <a:ext cx="476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1790700"/>
            <a:ext cx="666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700"/>
              </a:lnSpc>
              <a:defRPr sz="3600" b="0">
                <a:solidFill>
                  <a:srgbClr val="F0EDE8"/>
                </a:solidFill>
                <a:latin typeface="Manrope"/>
              </a:defRPr>
            </a:pPr>
            <a:r>
              <a:t>“Enterprise complexity requires a</a:t>
            </a:r>
          </a:p>
          <a:p>
            <a:pPr algn="l">
              <a:lnSpc>
                <a:spcPts val="4700"/>
              </a:lnSpc>
              <a:defRPr sz="3600" b="0">
                <a:solidFill>
                  <a:srgbClr val="F0EDE8"/>
                </a:solidFill>
                <a:latin typeface="Manrope"/>
              </a:defRPr>
            </a:pPr>
            <a:r>
              <a:t>shared digital workspace”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500" y="28575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952750"/>
            <a:ext cx="476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2933700"/>
            <a:ext cx="666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700"/>
              </a:lnSpc>
              <a:defRPr sz="3600" b="0">
                <a:solidFill>
                  <a:srgbClr val="F0EDE8"/>
                </a:solidFill>
                <a:latin typeface="Manrope"/>
              </a:defRPr>
            </a:pPr>
            <a:r>
              <a:t>“Lighthouse customer interest signals</a:t>
            </a:r>
          </a:p>
          <a:p>
            <a:pPr algn="l">
              <a:lnSpc>
                <a:spcPts val="4700"/>
              </a:lnSpc>
              <a:defRPr sz="3600" b="0">
                <a:solidFill>
                  <a:srgbClr val="F0EDE8"/>
                </a:solidFill>
                <a:latin typeface="Manrope"/>
              </a:defRPr>
            </a:pPr>
            <a:r>
              <a:t>broader market demand”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40005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4095750"/>
            <a:ext cx="476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076700"/>
            <a:ext cx="666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700"/>
              </a:lnSpc>
              <a:defRPr sz="3600" b="0">
                <a:solidFill>
                  <a:srgbClr val="F0EDE8"/>
                </a:solidFill>
                <a:latin typeface="Manrope"/>
              </a:defRPr>
            </a:pPr>
            <a:r>
              <a:t>“A Digital Sales Room will shorten</a:t>
            </a:r>
          </a:p>
          <a:p>
            <a:pPr algn="l">
              <a:lnSpc>
                <a:spcPts val="4700"/>
              </a:lnSpc>
              <a:defRPr sz="3600" b="0">
                <a:solidFill>
                  <a:srgbClr val="F0EDE8"/>
                </a:solidFill>
                <a:latin typeface="Manrope"/>
              </a:defRPr>
            </a:pPr>
            <a:r>
              <a:t>cycles and differentiate us”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5334000"/>
            <a:ext cx="7429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8480"/>
                </a:solidFill>
                <a:latin typeface="Manrope"/>
              </a:defRPr>
            </a:pPr>
            <a:r>
              <a:t>These felt true. Several times, I almost convinced myself they were.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5000" y="952500"/>
            <a:ext cx="8191500" cy="838200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77750" y="4953000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Hypothesis / research artifact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Discovery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7432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27241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Synthesised all internal and external research and market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2766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3528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3337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Profiled against ICP data to find genuine product-market matches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38862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9624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39433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Structured customer discovery calls across multiple verticals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" y="44958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45720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45529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Mapped seller and buyer journeys separately. They were not the same problem.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500" y="51054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" y="51816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1625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Daily synthesis shared with CPO. Full transparency throughout.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2500" y="581025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" y="5943600"/>
            <a:ext cx="7429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00"/>
              </a:lnSpc>
              <a:defRPr sz="2200" b="0">
                <a:solidFill>
                  <a:srgbClr val="888480"/>
                </a:solidFill>
                <a:latin typeface="Manrope"/>
              </a:defRPr>
            </a:pPr>
            <a:r>
              <a:t>Buyers were consistent. Sellers were chaos. Every customer ran different systems, cultures, processes.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25000" y="952500"/>
            <a:ext cx="8191500" cy="838200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77750" y="4953000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Journey map / Miro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CONCEPT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What we built and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7432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27241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Designed a DSR — shared workspace where buyers and sellers collaborate on complex deals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2766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3528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3337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Tested key interactions: quote review, product configuration, video consultation booking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38862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9624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39433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Validated with 8 enterprise buyers across automotive and industrial verticals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" y="44958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45720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45529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Rapid concept iteration. Each round tighter than the last.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500" y="520065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" y="5334000"/>
            <a:ext cx="7429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00"/>
              </a:lnSpc>
              <a:defRPr sz="2200" b="0">
                <a:solidFill>
                  <a:srgbClr val="888480"/>
                </a:solidFill>
                <a:latin typeface="Manrope"/>
              </a:defRPr>
            </a:pPr>
            <a:r>
              <a:t>The concept was strong. The problem was the market, not the design.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25000" y="952500"/>
            <a:ext cx="8191500" cy="838200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77750" y="4953000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Wireframe / Hi-fi comp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C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The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3335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WHAT THE RESEARCH ACTUALLY SAID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714500"/>
            <a:ext cx="8572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The assumptions were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952750"/>
            <a:ext cx="163830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3067050"/>
            <a:ext cx="609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555250"/>
                </a:solidFill>
                <a:latin typeface="Manrope"/>
              </a:defRPr>
            </a:pPr>
            <a:r>
              <a:t>Enterprise complexity requires a shared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3086100"/>
            <a:ext cx="381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55250"/>
                </a:solidFill>
                <a:latin typeface="Manrope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0" y="3067050"/>
            <a:ext cx="8572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F0EDE8"/>
                </a:solidFill>
                <a:latin typeface="Manrope"/>
              </a:defRPr>
            </a:pPr>
            <a:r>
              <a:t>Adoption required transforming entrenched sales cultures overnight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3810000"/>
            <a:ext cx="163830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3924300"/>
            <a:ext cx="609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555250"/>
                </a:solidFill>
                <a:latin typeface="Manrope"/>
              </a:defRPr>
            </a:pPr>
            <a:r>
              <a:t>Lighthouse interest equals broader market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0" y="3943350"/>
            <a:ext cx="381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55250"/>
                </a:solidFill>
                <a:latin typeface="Manrope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0" y="3924300"/>
            <a:ext cx="8572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F0EDE8"/>
                </a:solidFill>
                <a:latin typeface="Manrope"/>
              </a:defRPr>
            </a:pPr>
            <a:r>
              <a:t>One customer wanted a bespoke build. That is a consulting project, not a product.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500" y="4667250"/>
            <a:ext cx="163830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" y="4781550"/>
            <a:ext cx="609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555250"/>
                </a:solidFill>
                <a:latin typeface="Manrope"/>
              </a:defRPr>
            </a:pPr>
            <a:r>
              <a:t>A DSR will shorten sales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0" y="4800600"/>
            <a:ext cx="381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55250"/>
                </a:solidFill>
                <a:latin typeface="Manrope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0" y="4781550"/>
            <a:ext cx="8572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F0EDE8"/>
                </a:solidFill>
                <a:latin typeface="Manrope"/>
              </a:defRPr>
            </a:pPr>
            <a:r>
              <a:t>Customers had no CPQ, configurators or document management to even support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500" y="5524500"/>
            <a:ext cx="163830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2500" y="5905500"/>
            <a:ext cx="163830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500" y="6096000"/>
            <a:ext cx="1143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300"/>
              </a:lnSpc>
              <a:defRPr sz="4400" b="1">
                <a:solidFill>
                  <a:srgbClr val="F0EDE8"/>
                </a:solidFill>
                <a:latin typeface="Manrope"/>
              </a:defRPr>
            </a:pPr>
            <a:r>
              <a:t>Interest is not readiness.</a:t>
            </a:r>
          </a:p>
          <a:p>
            <a:pPr algn="l">
              <a:lnSpc>
                <a:spcPts val="5300"/>
              </a:lnSpc>
              <a:defRPr sz="4400" b="1">
                <a:solidFill>
                  <a:srgbClr val="F0EDE8"/>
                </a:solidFill>
                <a:latin typeface="Manrope"/>
              </a:defRPr>
            </a:pPr>
            <a:r>
              <a:t>Enthusiasm is not adoption.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C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The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The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7432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27241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Our ICP is not ready. Building ahead of readiness compounds the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2766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3528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3337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Framed as business risk anchored to comparable project scope north of €2M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38862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9624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39433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Collaborated with infra PM to model integration, resource and roadmap costs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" y="44958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45720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45529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CPO saw everything in real time. Recommendation landed without resistance.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500" y="520065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" y="5334000"/>
            <a:ext cx="7429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00"/>
              </a:lnSpc>
              <a:defRPr sz="2200" b="0">
                <a:solidFill>
                  <a:srgbClr val="888480"/>
                </a:solidFill>
                <a:latin typeface="Manrope"/>
              </a:defRPr>
            </a:pPr>
            <a:r>
              <a:t>I did not ask them to trust my instinct. I showed my working. Every claim was traceable back to a call, a concept, a data point.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6000" y="36195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CUSTOMER, VERBATIM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0" y="4095750"/>
            <a:ext cx="7429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0">
                <a:solidFill>
                  <a:srgbClr val="B8B5B0"/>
                </a:solidFill>
                <a:latin typeface="Manrope"/>
              </a:defRPr>
            </a:pPr>
            <a:r>
              <a:t>“Getting a tool like this adopted by our sales team off the bat will be tricky.”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8A7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WHAT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What happened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762250"/>
            <a:ext cx="2857500" cy="61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EDE8"/>
                </a:solidFill>
                <a:latin typeface="Manrope"/>
              </a:defRPr>
            </a:pPr>
            <a:r>
              <a:t>~€2M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2876550"/>
            <a:ext cx="438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saved in avoided R&amp;D investment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476625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571875"/>
            <a:ext cx="2857500" cy="61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EDE8"/>
                </a:solidFill>
                <a:latin typeface="Manrope"/>
              </a:defRPr>
            </a:pPr>
            <a:r>
              <a:t>8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3686175"/>
            <a:ext cx="438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of roadmap redirected to foundational capabilities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428625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4381500"/>
            <a:ext cx="2857500" cy="61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Manrope"/>
              </a:defRPr>
            </a:pPr>
            <a:r>
              <a:t>Self-service shipped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0" y="4495800"/>
            <a:ext cx="438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the redirect was the right bet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" y="5095875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5286375"/>
            <a:ext cx="7429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EDE8"/>
                </a:solidFill>
                <a:latin typeface="Manrope"/>
              </a:rPr>
              <a:t>Do differently: </a:t>
            </a:r>
            <a:r>
              <a:rPr sz="2400" b="0">
                <a:solidFill>
                  <a:srgbClr val="B8B5B0"/>
                </a:solidFill>
                <a:latin typeface="Manrope"/>
              </a:rPr>
              <a:t>Pressure-test the adoption assumption in week one. Ask the harder question before enthusiasm gets a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0" y="3238500"/>
            <a:ext cx="74295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0">
                <a:solidFill>
                  <a:srgbClr val="B8B5B0"/>
                </a:solidFill>
                <a:latin typeface="Manrope"/>
              </a:defRPr>
            </a:pPr>
            <a:r>
              <a:t>“Design’s job here wasn’t craft. It was making an invisible decision concrete enough that an entire organisation could act on it.”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3500" y="64770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CASE STUDY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6858000"/>
            <a:ext cx="9525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0"/>
              </a:lnSpc>
              <a:defRPr sz="10000" b="1">
                <a:solidFill>
                  <a:srgbClr val="F0EDE8"/>
                </a:solidFill>
                <a:latin typeface="Manrope"/>
              </a:defRPr>
            </a:pPr>
            <a:r>
              <a:t>Design System</a:t>
            </a:r>
          </a:p>
          <a:p>
            <a:pPr algn="l">
              <a:lnSpc>
                <a:spcPts val="10000"/>
              </a:lnSpc>
              <a:defRPr sz="10000" b="1">
                <a:solidFill>
                  <a:srgbClr val="F0EDE8"/>
                </a:solidFill>
                <a:latin typeface="Manrope"/>
              </a:defRPr>
            </a:pPr>
            <a:r>
              <a:t>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87630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2800" b="0">
                <a:solidFill>
                  <a:srgbClr val="B8B5B0"/>
                </a:solidFill>
                <a:latin typeface="Manrope"/>
              </a:defRPr>
            </a:pPr>
            <a:r>
              <a:t>How I used 20% of my time and AI to fix what no one had time to fix,</a:t>
            </a:r>
          </a:p>
          <a:p>
            <a:pPr algn="l">
              <a:lnSpc>
                <a:spcPts val="4500"/>
              </a:lnSpc>
              <a:defRPr sz="2800" b="0">
                <a:solidFill>
                  <a:srgbClr val="B8B5B0"/>
                </a:solidFill>
                <a:latin typeface="Manrope"/>
              </a:defRPr>
            </a:pPr>
            <a:r>
              <a:t>and created organisational pull in the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0" y="6477000"/>
            <a:ext cx="381000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0" b="1">
                <a:solidFill>
                  <a:srgbClr val="161619"/>
                </a:solidFill>
                <a:latin typeface="Manrope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0" y="1905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CASE STUDY /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2476500"/>
            <a:ext cx="15240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0"/>
              </a:lnSpc>
              <a:defRPr sz="10000" b="1">
                <a:solidFill>
                  <a:srgbClr val="F0EDE8"/>
                </a:solidFill>
                <a:latin typeface="Manrope"/>
              </a:defRPr>
            </a:pPr>
            <a:r>
              <a:t>I 10x’d myself</a:t>
            </a:r>
          </a:p>
          <a:p>
            <a:pPr algn="l">
              <a:lnSpc>
                <a:spcPts val="10000"/>
              </a:lnSpc>
              <a:defRPr sz="10000" b="1">
                <a:solidFill>
                  <a:srgbClr val="F0EDE8"/>
                </a:solidFill>
                <a:latin typeface="Manrope"/>
              </a:defRPr>
            </a:pPr>
            <a:r>
              <a:t>with AI to fix what</a:t>
            </a:r>
          </a:p>
          <a:p>
            <a:pPr algn="l">
              <a:lnSpc>
                <a:spcPts val="10000"/>
              </a:lnSpc>
              <a:defRPr sz="10000" b="1">
                <a:solidFill>
                  <a:srgbClr val="F0EDE8"/>
                </a:solidFill>
                <a:latin typeface="Manrope"/>
              </a:defRPr>
            </a:pPr>
            <a:r>
              <a:t>no one had time</a:t>
            </a:r>
          </a:p>
          <a:p>
            <a:pPr algn="l">
              <a:lnSpc>
                <a:spcPts val="10000"/>
              </a:lnSpc>
              <a:defRPr sz="10000" b="1">
                <a:solidFill>
                  <a:srgbClr val="F0EDE8"/>
                </a:solidFill>
                <a:latin typeface="Manrope"/>
              </a:defRPr>
            </a:pPr>
            <a:r>
              <a:t>to fix.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6762750"/>
            <a:ext cx="609600" cy="28575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7143750"/>
            <a:ext cx="1143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8B5B0"/>
                </a:solidFill>
                <a:latin typeface="Manrope"/>
              </a:defRPr>
            </a:pPr>
            <a:r>
              <a:t>Self-initiated. 20% of my time. One FE alongside me. Claude Code as the multiplier.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CONTEXT AND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362200"/>
            <a:ext cx="74295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Our demo shop is the first thing enterprise prospects see when evaluating a platform deal worth millions. The craft was poor. Inconsistent, patchy, nobody’s job to fix. I couldn’t accept that.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38100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38862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38671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Self-initiated. Pitched to my manager and got sales and demo team backing.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44196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44958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44767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20% of my time, one FE alongside me, Claude Code as the multiplier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50292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51054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8750" y="50863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Three goals: elevate craft, increase prospect satisfaction, enable the team to ship faster without breaking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5791200"/>
            <a:ext cx="7429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9E6E"/>
                </a:solidFill>
                <a:latin typeface="Manrope"/>
              </a:defRPr>
            </a:pPr>
            <a:r>
              <a:t>FULL VISIBILITY TO ALL STAKEHOLDERS THROUGHOUT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5000" y="1333500"/>
            <a:ext cx="8191500" cy="13335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0750" y="1476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0" y="1762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Manrope"/>
              </a:defRPr>
            </a:pPr>
            <a:r>
              <a:t>Lead Designer, Nuwan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0" y="209550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1 Frontend Engineer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5000" y="2857500"/>
            <a:ext cx="8191500" cy="20955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0750" y="3000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STAKEHOLDERS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0" y="3286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0" y="361950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Sales 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0" y="395287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Demo experience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0" y="428625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Partner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25000" y="5143500"/>
            <a:ext cx="8191500" cy="11430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9525">
            <a:solidFill>
              <a:srgbClr val="1E1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0750" y="5286375"/>
            <a:ext cx="1905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250"/>
                </a:solidFill>
                <a:latin typeface="Manrope"/>
              </a:defRPr>
            </a:pPr>
            <a:r>
              <a:t>CONSTRAINT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0" y="5572125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Be ambitious. Don’t break a live shop.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APPROACH AND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How I built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1666875" cy="28575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819400"/>
            <a:ext cx="1666875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67050"/>
            <a:ext cx="1666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EDE8"/>
                </a:solidFill>
                <a:latin typeface="Manrope"/>
              </a:defRPr>
            </a:pPr>
            <a:r>
              <a:t>Moodboard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429000"/>
            <a:ext cx="1666875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1900" b="0">
                <a:solidFill>
                  <a:srgbClr val="B8B5B0"/>
                </a:solidFill>
                <a:latin typeface="Manrope"/>
              </a:defRPr>
            </a:pPr>
            <a:r>
              <a:t>Visual direction and stakeholder alignment before a single 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9875" y="2667000"/>
            <a:ext cx="1666875" cy="28575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9875" y="2819400"/>
            <a:ext cx="1666875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9875" y="3067050"/>
            <a:ext cx="1666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EDE8"/>
                </a:solidFill>
                <a:latin typeface="Manrope"/>
              </a:defRPr>
            </a:pPr>
            <a:r>
              <a:t>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9875" y="3429000"/>
            <a:ext cx="1666875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1900" b="0">
                <a:solidFill>
                  <a:srgbClr val="B8B5B0"/>
                </a:solidFill>
                <a:latin typeface="Manrope"/>
              </a:defRPr>
            </a:pPr>
            <a:r>
              <a:t>Design principles, tokens, colour and type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250" y="2667000"/>
            <a:ext cx="1666875" cy="28575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7250" y="2819400"/>
            <a:ext cx="1666875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0" y="3067050"/>
            <a:ext cx="1666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EDE8"/>
                </a:solidFill>
                <a:latin typeface="Manrope"/>
              </a:defRPr>
            </a:pPr>
            <a:r>
              <a:t>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7250" y="3429000"/>
            <a:ext cx="1666875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1900" b="0">
                <a:solidFill>
                  <a:srgbClr val="B8B5B0"/>
                </a:solidFill>
                <a:latin typeface="Manrope"/>
              </a:defRPr>
            </a:pPr>
            <a:r>
              <a:t>Built directly into codebase using Claude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4625" y="2667000"/>
            <a:ext cx="1666875" cy="2857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4625" y="2819400"/>
            <a:ext cx="1666875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25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067050"/>
            <a:ext cx="1666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EDE8"/>
                </a:solidFill>
                <a:latin typeface="Manrope"/>
              </a:defRPr>
            </a:pPr>
            <a:r>
              <a:t>Docs 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3429000"/>
            <a:ext cx="1666875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1900" b="0">
                <a:solidFill>
                  <a:srgbClr val="B8B5B0"/>
                </a:solidFill>
                <a:latin typeface="Manrope"/>
              </a:defRPr>
            </a:pPr>
            <a:r>
              <a:t>Built simultaneously, not 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500" y="466725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4800600"/>
            <a:ext cx="7429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00"/>
              </a:lnSpc>
              <a:defRPr sz="2200" b="0">
                <a:solidFill>
                  <a:srgbClr val="888480"/>
                </a:solidFill>
                <a:latin typeface="Manrope"/>
              </a:defRPr>
            </a:pPr>
            <a:r>
              <a:t>The hardest decision was restraint. Every component had to feel like a step forward without breaking a live shop sales depends on daily.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25000" y="952500"/>
            <a:ext cx="8191500" cy="838200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77750" y="4953000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Moodboard or tokens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2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Components and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8575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9337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29146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Foundation tokens applied system-wide across colour, type and spacing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4671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5433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5242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Component variations designed, tested and shared iteratively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40767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41529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41338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Documentation site built in parallel. A system nobody can navigate is just pretty Figma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" y="46863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4762500"/>
            <a:ext cx="38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525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4743450"/>
            <a:ext cx="685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>
                <a:solidFill>
                  <a:srgbClr val="B8B5B0"/>
                </a:solidFill>
                <a:latin typeface="Manrope"/>
              </a:defRPr>
            </a:pPr>
            <a:r>
              <a:t>Claude Code handled the build layer. Taste, judgment and restraint stayed mine.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500" y="539115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" y="5524500"/>
            <a:ext cx="7429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00"/>
              </a:lnSpc>
              <a:defRPr sz="2200" b="0">
                <a:solidFill>
                  <a:srgbClr val="888480"/>
                </a:solidFill>
                <a:latin typeface="Manrope"/>
              </a:defRPr>
            </a:pPr>
            <a:r>
              <a:t>“When AI does the building, the designer’s job gets clearer. Taste, judgment, restraint. That’s the 10% that matters.”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25000" y="952500"/>
            <a:ext cx="4000500" cy="409575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82250" y="2809875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Component screen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0" y="952500"/>
            <a:ext cx="4000500" cy="409575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573250" y="2809875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Docs site screen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5000" y="5238750"/>
            <a:ext cx="4000500" cy="409575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82250" y="7096125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Token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0" y="5238750"/>
            <a:ext cx="4000500" cy="409575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9050">
            <a:solidFill>
              <a:srgbClr val="2C2C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73250" y="7096125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250"/>
                </a:solidFill>
                <a:latin typeface="Manrope"/>
              </a:defRPr>
            </a:pPr>
            <a:r>
              <a:t>Storefront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10287000"/>
          </a:xfrm>
          <a:prstGeom prst="rect">
            <a:avLst/>
          </a:prstGeom>
          <a:solidFill>
            <a:srgbClr val="8A7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381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250"/>
                </a:solidFill>
                <a:latin typeface="Manrope"/>
              </a:defRPr>
            </a:pPr>
            <a: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43000"/>
            <a:ext cx="571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5250"/>
                </a:solidFill>
                <a:latin typeface="Manrope"/>
              </a:defRPr>
            </a:pPr>
            <a:r>
              <a:t>WHERE IT 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4950"/>
            <a:ext cx="7429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EDE8"/>
                </a:solidFill>
                <a:latin typeface="Manrope"/>
              </a:defRPr>
            </a:pPr>
            <a:r>
              <a:t>What happened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66700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762250"/>
            <a:ext cx="2857500" cy="61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EDE8"/>
                </a:solidFill>
                <a:latin typeface="Manrope"/>
              </a:defRPr>
            </a:pPr>
            <a: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2876550"/>
            <a:ext cx="438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complete on 20% of my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476625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571875"/>
            <a:ext cx="2857500" cy="61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EDE8"/>
                </a:solidFill>
                <a:latin typeface="Manrope"/>
              </a:defRPr>
            </a:pPr>
            <a:r>
              <a:t>0 breaks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3686175"/>
            <a:ext cx="438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live shop stayed intact throughout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4286250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4381500"/>
            <a:ext cx="2857500" cy="61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Manrope"/>
              </a:defRPr>
            </a:pPr>
            <a:r>
              <a:t>Org started pulling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0" y="4495800"/>
            <a:ext cx="438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8B5B0"/>
                </a:solidFill>
                <a:latin typeface="Manrope"/>
              </a:defRPr>
            </a:pPr>
            <a:r>
              <a:t>sales, partners and cross-team allies appeared without me asking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" y="5095875"/>
            <a:ext cx="7429500" cy="9525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5286375"/>
            <a:ext cx="7429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EDE8"/>
                </a:solidFill>
                <a:latin typeface="Manrope"/>
              </a:rPr>
              <a:t>Do differently: </a:t>
            </a:r>
            <a:r>
              <a:rPr sz="2400" b="0">
                <a:solidFill>
                  <a:srgbClr val="B8B5B0"/>
                </a:solidFill>
                <a:latin typeface="Manrope"/>
              </a:rPr>
              <a:t>Start the documentation on day one. Undocumented early decisions become invisible debt in a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0"/>
            <a:ext cx="9525" cy="102870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0" y="3238500"/>
            <a:ext cx="74295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0">
                <a:solidFill>
                  <a:srgbClr val="B8B5B0"/>
                </a:solidFill>
                <a:latin typeface="Manrope"/>
              </a:defRPr>
            </a:pPr>
            <a:r>
              <a:t>“I stopped having to push this forward. Sales started pushing my team to accelerate it. That is when I knew the signal was real.”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